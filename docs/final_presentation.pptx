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今天我们汇报的是 DeFi 收益轮动回测平台。一句话定位：在不接触链上的前提下，验证多池轮动 + 自动复投策略的实际收益与摩擦成本。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核心数据：13500 行代码、其中纯代码 10300 多行、测试占比 41%、325 个自动化测试覆盖到 87.5% 分支、9 个功能需求全部实现并扩展了 5 项、接入了真实链上数据。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这是看板的实际效果。从概览到行情、风险、仓位、成本、多策略对比 6 个 Tab，每个 Tab 多张可交互图表。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个功能需求 + 4 个非功能需求全部实现，并且做了 5 个超出需求的扩展。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技术栈全部 Python 生态。两点强调：第一，所有金融计算用 Decimal 而非 float；第二，链上数据接入只用标准库 urllib，不引入新依赖。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 5 层。下层是数据，往上是策略，再到回测，再到报表，最上是看板。依赖严格自上而下，每层通过抽象接口对接。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 tick 推进 8 步。MTM 这步是解决 Sharpe 异常的关键。性能上 1000 tick × 5 池只要 0.75 秒，远低于 5 秒预算。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最初只用合成数据，后来接入了 DefiLlama 的 yields 和 coins 两套 API，能拉到stETH 等真实波动 token 的历史价格。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项目最有故事的一次重构。最初模型没有 mark-to-market，token 涨跌完全不影响 NAV，导致 Sharpe 飙到 1198。引入 MTM 后回到正常区间。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基于文档算法原语，设计了 5 个预设覆盖保守到激进的整个象限。用户一键切换，不用手动调参。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课程第 8、9 讲讲到的等价类、边界值、决策表、路径覆盖、条件组合所有方法，我们都对应建了独立目录。325 测试发现了 7 个真实 bug，其中 1 个由属性测试自动找到。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把'理论最优'到'实际收益'的差额完整分解为 4 类摩擦 + 调仓空窗，并用集成测试守恒等式验证误差小于 1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同一份数据 5 个策略跑出完全不同的结果。价格风险敏感的策略避开 token 价格暴跌；激进策略锁定最高 APY 池被 MTM 反噬，亏损 6.5%。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用真实链上数据跑保守策略：年化 8.74%、MDD 2.15%、Sharpe 1.54。模型正确识别stETH 价格风险，把 99% 时间留在 Maple USDC。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人分工平均 25%，按模块边界划分。A 数据层和链上接入，B 策略引擎，C 回测报表，D 前端测试。接口先行让我们能并行开发。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整体超出预期，特别是真实数据和测试体系。也踩了一些坑，Sharpe 异常这个 bug 在端到端测试后才发现，迭代了两轮才修好。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三个洞察都基于真实数据。Q1：滑点和池深的关系——大 TVL 池可省 67% 滑点；Q2：评分器是否考虑价格风险决定盈亏，是赚 8.8% 还是亏 6.5% 的分水岭；Q3：调仓数量不是关键，时机才是——激进 1 次亏、低频 16 次亏、保守 19 次赚。这三个结论都是平台跑出来的，不是我们事先知道的。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总结：完整可运行、可复现、可扩展。谢谢大家，欢迎提问。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FINANCIAL SOFTWARE ENGINEERING · 终期汇报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DeFi 收益轮动与自动复投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8BDF8"/>
                </a:solidFill>
                <a:latin typeface="Microsoft YaHei"/>
              </a:rPr>
              <a:t>回测平台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7A86A8"/>
                </a:solidFill>
                <a:latin typeface="Microsoft YaHei"/>
              </a:rPr>
              <a:t>基于多因子评分 + 门槛约束的离线策略验证系统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548640" cy="3657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onsolas"/>
              </a:rPr>
              <a:t>13,500+ LINES   ·   325 TESTS   ·   87.5% COVERAGE   ·   REAL ON-CHAIN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521208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TEAM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金融软件工程 · 第 N 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989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4DDF0"/>
                </a:solidFill>
                <a:latin typeface="Microsoft YaHei"/>
              </a:rPr>
              <a:t>成员 A · B · C ·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数字总览 · CORE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代码 · 测试 · 数据 · 功能 · 性能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27432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Consolas"/>
              </a:rPr>
              <a:t>13,528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代码总行数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生产 3,747 / 测试 5,722 / UI 1,247 / 脚本 2,322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373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74520"/>
            <a:ext cx="27432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05740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4ADE80"/>
                </a:solidFill>
                <a:latin typeface="Consolas"/>
              </a:rPr>
              <a:t>10,358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纯代码行数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11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去空白去注释 · 测试占比 41%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74520"/>
            <a:ext cx="274320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5740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472B6"/>
                </a:solidFill>
                <a:latin typeface="Consolas"/>
              </a:rPr>
              <a:t>325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自动化测试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611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单元 / 集成 / 黑盒 / 白盒 / 属性 / 性能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27432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4ADE80"/>
                </a:solidFill>
                <a:latin typeface="Consolas"/>
              </a:rPr>
              <a:t>87.5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% 覆盖率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350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branch coverage · 核心模块 ≥ 90%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16052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297680"/>
            <a:ext cx="27432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48056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Consolas"/>
              </a:rPr>
              <a:t>9 + 4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715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FR + NFR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60350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需求 100% 实现 + 5 项扩展功能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16052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297680"/>
            <a:ext cx="274320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480560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472B6"/>
                </a:solidFill>
                <a:latin typeface="Consolas"/>
              </a:rPr>
              <a:t>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ON-CHAIN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60350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DefiLlama API · 1000+ 池可选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02 / 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看板演示 ·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Streamlit 6 Tab × 10 类专业图表 · 真实链上数据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1640"/>
            <a:ext cx="850392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Microsoft YaHei"/>
              </a:rPr>
              <a:t>▶  放映模式下自动循环 · 10 秒一轮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03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实现成果矩阵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9 FR + 4 NFR + 5 项扩展功能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6766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2029968"/>
                <a:gridCol w="3383280"/>
                <a:gridCol w="676656"/>
              </a:tblGrid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实现要点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FR-01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数据建模与 CSV 加载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frozen dataclass + Parquet 持久化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FR-02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收益拥挤衰减模型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APY × TVL / (TVL + Capital)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FR-03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多因子评分聚合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扩展为 6 个 Scorer + 权重归一化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✓+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FR-04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门槛约束型轮动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τ-reset + 双门槛 · 7 状态机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FR-05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净效用驱动复投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expected_gain &gt; gas × premium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FR-06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离线回测主引擎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+ Mark-to-Market 重估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✓+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FR-07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压力事件注入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Gas / Exploit / Liquidity 三类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FR-08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绩效与归因报表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6 指标 + 守恒分解等式验证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FR-09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交互看板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Streamlit 6 Tab + 多策略对比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✓+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NFR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精度 / 复现 / 异常 / 性能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Decimal 28 位 / 全部满足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1600200"/>
            <a:ext cx="4297680" cy="4754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超出需求的扩展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0574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EXTENSIONS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1460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>
                <a:solidFill>
                  <a:srgbClr val="D4DDF0"/>
                </a:solidFill>
                <a:latin typeface="Microsoft YaHei"/>
              </a:rPr>
              <a:t>DefiLlama 真实链上数据爬取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>
                <a:solidFill>
                  <a:srgbClr val="D4DDF0"/>
                </a:solidFill>
                <a:latin typeface="Microsoft YaHei"/>
              </a:rPr>
              <a:t>5 个命名策略预设一键切换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>
                <a:solidFill>
                  <a:srgbClr val="D4DDF0"/>
                </a:solidFill>
                <a:latin typeface="Microsoft YaHei"/>
              </a:rPr>
              <a:t>TokenPrice 风险评分器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>
                <a:solidFill>
                  <a:srgbClr val="D4DDF0"/>
                </a:solidFill>
                <a:latin typeface="Microsoft YaHei"/>
              </a:rPr>
              <a:t>完整测试体系（黑/白/属性/性能）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300">
                <a:solidFill>
                  <a:srgbClr val="D4DDF0"/>
                </a:solidFill>
                <a:latin typeface="Microsoft YaHei"/>
              </a:rPr>
              <a:t>GitHub Actions CI 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04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技术栈 ·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Python 全栈 · 零商业依赖 · 学术可复现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224028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24028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onsolas"/>
              </a:rPr>
              <a:t>NUMERIC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数值与精度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365760" cy="182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1874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Python 3.13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Decimal · 28 位精度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NumPy 2.2 / Pandas 2.2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1691640"/>
            <a:ext cx="224028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1691640"/>
            <a:ext cx="224028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onsolas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1945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持久化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232" y="2743200"/>
            <a:ext cx="365760" cy="182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926080"/>
            <a:ext cx="1874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PyArrow / Parquet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CSV 格式（Excel 友好）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YAML 配置驱动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691640"/>
            <a:ext cx="224028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5504" y="1691640"/>
            <a:ext cx="2240280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472B6"/>
                </a:solidFill>
                <a:latin typeface="Consola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1945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前端可视化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4" y="2743200"/>
            <a:ext cx="365760" cy="182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8384" y="2926080"/>
            <a:ext cx="1874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Streamlit 1.57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Plotly 6.4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Kaleido 静态导出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1691640"/>
            <a:ext cx="224028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1691640"/>
            <a:ext cx="22402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onsolas"/>
              </a:rPr>
              <a:t>ON-CHAIN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21945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链上数据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17536" y="2743200"/>
            <a:ext cx="365760" cy="182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926080"/>
            <a:ext cx="1874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DefiLlama yields API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coins.llama.fi 价格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stdlib urllib（无依赖）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93808" y="1691640"/>
            <a:ext cx="224028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93808" y="1691640"/>
            <a:ext cx="224028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6688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onsolas"/>
              </a:rPr>
              <a:t>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21945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测试与质量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76688" y="2743200"/>
            <a:ext cx="365760" cy="182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2926080"/>
            <a:ext cx="1874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pytest + hypothesis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pytest-cov branch</a:t>
            </a:r>
          </a:p>
          <a:p>
            <a:pPr algn="l">
              <a:lnSpc>
                <a:spcPct val="16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pytest-benchmark ·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ADE80"/>
                </a:solidFill>
                <a:latin typeface="Microsoft YaHei"/>
              </a:rPr>
              <a:t>全部金融运算用 Decimal · 链上数据无外部依赖 · 测试体系完整可执行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05 /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架构设计 · 5 层模块化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依赖严格自上而下 · 抽象接口可热插拔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315200" cy="713232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91440" cy="49377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472B6"/>
                </a:solidFill>
                <a:latin typeface="Consolas"/>
              </a:rPr>
              <a:t>ui/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4DDF0"/>
                </a:solidFill>
                <a:latin typeface="Microsoft YaHei"/>
              </a:rPr>
              <a:t>Streamlit 交互看板 · 6 Tab + 多策略对比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7315200" cy="713232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91440" cy="4937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33472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onsolas"/>
              </a:rPr>
              <a:t>report/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33472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4DDF0"/>
                </a:solidFill>
                <a:latin typeface="Microsoft YaHei"/>
              </a:rPr>
              <a:t>metrics 6 指标 + attribution 守恒分解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38144"/>
            <a:ext cx="7315200" cy="713232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47872"/>
            <a:ext cx="91440" cy="49377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onsolas"/>
              </a:rPr>
              <a:t>backtest/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38144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4DDF0"/>
                </a:solidFill>
                <a:latin typeface="Microsoft YaHei"/>
              </a:rPr>
              <a:t>主循环 + MTM + 摩擦 + 事件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42816"/>
            <a:ext cx="7315200" cy="713232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352544"/>
            <a:ext cx="91440" cy="4937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42816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onsolas"/>
              </a:rPr>
              <a:t>strategy/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42816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4DDF0"/>
                </a:solidFill>
                <a:latin typeface="Microsoft YaHei"/>
              </a:rPr>
              <a:t>评分 + 轮动 + 复投 · FR-03/04/05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47488"/>
            <a:ext cx="7315200" cy="713232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157216"/>
            <a:ext cx="91440" cy="4937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47488"/>
            <a:ext cx="2286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  <a:latin typeface="Consolas"/>
              </a:rPr>
              <a:t>data_model/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047488"/>
            <a:ext cx="44805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D4DDF0"/>
                </a:solidFill>
                <a:latin typeface="Microsoft YaHei"/>
              </a:rPr>
              <a:t>不可变值对象 + CSV/Parquet 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Microsoft YaHei"/>
              </a:rPr>
              <a:t>↑   依赖方向自上而下 · 低层不感知高层   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828800"/>
            <a:ext cx="3520440" cy="42976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965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设计原则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8600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frozen dataclass + tuple
→ NFR-02 复现性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Decimal 28 位精度
→ NFR-01 金融精度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IScorer 抽象接口
→ Scorer 热插拔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IFrictionEstimator 解耦
→ 摩擦模型可替换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8BDF8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MappingProxyType
→ 值对象真正不可变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06 /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端到端数据流 ·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每个 tick 严格串行 · 可复现 · 365 tick / 0.19 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64792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916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数据加载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91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CSV / DefiLlama API → AssetSnapshot[]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58568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31720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585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事件注入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585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EventInjector.apply(snapshot)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25496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898648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98648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82549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MTM 重估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825496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principal × (price_t / price_t-1)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92424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465576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65576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392424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收益累计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39242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pending_reward += APY / 365 × principal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59352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032504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32504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9593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评分聚合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95935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6 Scorer 并行 → 加权 → 稳定排序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2628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599432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99432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5262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复投判定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5262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gain &gt; gas × premium → commit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93208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5166360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093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轮动判定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509320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τ-reset → 双门槛 → commit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660136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" y="5733288"/>
            <a:ext cx="548640" cy="356616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33288"/>
            <a:ext cx="548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F1729"/>
                </a:solidFill>
                <a:latin typeface="Consolas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66013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落盘报表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5660136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D4DDF0"/>
                </a:solidFill>
                <a:latin typeface="Consolas"/>
              </a:rPr>
              <a:t>Parquet · metrics · attribution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169164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关键创新 · MARK-TO-MARKET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MTM 重估机制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26974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D4DDF0"/>
                </a:solidFill>
                <a:latin typeface="Microsoft YaHei"/>
              </a:rPr>
              <a:t>每 tick 按 token_price 比例重估持仓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D4DDF0"/>
                </a:solidFill>
                <a:latin typeface="Microsoft YaHei"/>
              </a:rPr>
              <a:t>让 NAV 反映真实价格波动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D4DDF0"/>
                </a:solidFill>
                <a:latin typeface="Microsoft YaHei"/>
              </a:rPr>
              <a:t>→ MDD 不再恒为 0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D4DDF0"/>
                </a:solidFill>
                <a:latin typeface="Microsoft YaHei"/>
              </a:rPr>
              <a:t>→ Sharpe 不再异常飙升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0292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性能 · PERFORMANCE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440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onsolas"/>
              </a:rPr>
              <a:t>365 tick × 3 池  →  0.19 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806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onsolas"/>
              </a:rPr>
              <a:t>1000 tick × 5 池  →  0.75 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61722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Microsoft YaHei"/>
              </a:rPr>
              <a:t>NFR-04 预算 &lt; 5 s  →  ✓ 满足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07 /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亮点 ① · 真实链上数据接入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DefiLlama 两套 API · 不引入新依赖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DATA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onsolas"/>
              </a:rPr>
              <a:t>yields.llama.fi / pools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列出 1000+ 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onsolas"/>
              </a:rPr>
              <a:t>yields.llama.fi /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单池历史 APY / TVL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onsolas"/>
              </a:rPr>
              <a:t>coins.llama.fi /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底层 token 真实价格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548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onsolas"/>
              </a:rPr>
              <a:t>归一化 + 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日期对齐 · JSON 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实测三池 · LIVE DATA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0" y="2103120"/>
          <a:ext cx="534923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926"/>
                <a:gridCol w="1126155"/>
                <a:gridCol w="2346157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池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APY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token_price 范围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Lido stETH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2.46%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0.53 ~ 1.38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Maple USDC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4.71%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$1.00 (稳定)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8BDF8"/>
                          </a:solidFill>
                          <a:latin typeface="Microsoft YaHei"/>
                        </a:rPr>
                        <a:t>Vesper ETH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9.99%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D4DDF0"/>
                          </a:solidFill>
                          <a:latin typeface="Microsoft YaHei"/>
                        </a:rPr>
                        <a:t>0.52 ~ 1.36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400800" y="4572000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覆盖范围 ·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7492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1000+ 池  ·  10+ 链  ·  300 天历史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Consolas"/>
              </a:rPr>
              <a:t>$ python fetch_data.py --demo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8521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Microsoft YaHei"/>
              </a:rPr>
              <a:t>一行命令拉取演示数据集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08 /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亮点 ② · Mark-to-Market 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项目最有故事的一次重构 · Sharpe 1198 → 1.5 异常修复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BEFORE · 修复前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token_price ≡ 1.0 · 无 MTM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472B6"/>
                </a:solidFill>
                <a:latin typeface="Consolas"/>
              </a:rPr>
              <a:t>Sharpe  =  1198.376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472B6"/>
                </a:solidFill>
                <a:latin typeface="Consolas"/>
              </a:rPr>
              <a:t>MDD    =  0.00 %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4DDF0"/>
                </a:solidFill>
                <a:latin typeface="Microsoft YaHei"/>
              </a:rPr>
              <a:t>所有策略锁定同一池 · 无法区分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AFTER · 修复后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MTM + 真实价格 + 价格风险评分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onsolas"/>
              </a:rPr>
              <a:t>Sharpe ∈ [0.17, 1.90]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onsolas"/>
              </a:rPr>
              <a:t>MDD ∈ [2.15%, 21.57%]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4DDF0"/>
                </a:solidFill>
                <a:latin typeface="Microsoft YaHei"/>
              </a:rPr>
              <a:t>5 个预设产生 5 种结果 · 真正可比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CORE LOGIC · backtest/engine.py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0916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141F37"/>
          </a:solidFill>
          <a:ln w="76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def _mark_to_market(self, position, prev_snap, curr_snap):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ratio = (curr_snap.pools[position.pool_id].token_price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         / prev_snap.pools[position.pool_id].token_price)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return Position(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    principal      = position.principal      * ratio,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    pending_reward = position.pending_reward * ratio,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4DDF0"/>
                </a:solidFill>
                <a:latin typeface="Consolas"/>
              </a:rPr>
              <a:t>        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09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亮点 ③ · 5 个命名策略预设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一键切换 · 覆盖保守到激进全象限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667511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797"/>
                <a:gridCol w="866898"/>
                <a:gridCol w="866898"/>
                <a:gridCol w="1040278"/>
                <a:gridCol w="216724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τ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thr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horizon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重心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保守稳健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0.10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0.002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价格风险 55%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均衡（默认）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0.05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0.001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各因子均匀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激进动量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0.0005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动量 60%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低频价值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0.15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0.005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长 horizon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极端风险厌恶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0.10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0.005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4DDF0"/>
                          </a:solidFill>
                          <a:latin typeface="Microsoft YaHei"/>
                        </a:rPr>
                        <a:t>CARA α = 8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9" name="Picture 8" descr="12_compare_radar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54480"/>
            <a:ext cx="4663440" cy="5029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5212080"/>
            <a:ext cx="6675120" cy="11887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762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Microsoft YaHei"/>
              </a:rPr>
              <a:t>🎯 文档算法原语 × 5 个权重象限 = 覆盖典型策略空间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Microsoft YaHei"/>
              </a:rPr>
              <a:t>Streamlit 侧栏一键载入 · 同步刷新所有滑块 · 切换 &lt; 100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$ # 也可手动调参，preset 设为「自定义」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10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亮点 ④ · 完整测试体系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基于课程第 8/9 讲方法学 · 325 测试 / 87.5% 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TESTING PYRAMID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10312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103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性能基准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onsola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5980" y="2606040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8860" y="2606040"/>
            <a:ext cx="11429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场景 / 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1859" y="2606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onsolas"/>
              </a:rPr>
              <a:t>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310896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31089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黑盒 等/边/决/场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Consolas"/>
              </a:rPr>
              <a:t>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3060" y="3611880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5940" y="36118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白盒 路径/条件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478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  <a:latin typeface="Consolas"/>
              </a:rPr>
              <a:t>41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114800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1148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属性测试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14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onsolas"/>
              </a:rPr>
              <a:t>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0140" y="4617720"/>
            <a:ext cx="3886200" cy="4572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3020" y="46177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单元测试（模块）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70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Consolas"/>
              </a:rPr>
              <a:t>185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57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472B6"/>
                </a:solidFill>
                <a:latin typeface="Consolas"/>
              </a:rPr>
              <a:t>Σ  325 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PPT 方法学 · 落地映射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2103120"/>
          <a:ext cx="598931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190"/>
                <a:gridCol w="704625"/>
                <a:gridCol w="2818503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方法（PPT §章节）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用例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目录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等价类划分 §9.2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blackbox/equivalence_classes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边界值分析 §9.2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blackbox/boundary_values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决策表法 §9.2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blackbox/decision_tables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场景法 §9.2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blackbox/scenarios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基本路径覆盖 §一·6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whitebox/path_coverage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条件组合覆盖 §一·5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whitebox/condition_combinations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属性测试 hypothesis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property/invariants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8BDF8"/>
                          </a:solidFill>
                          <a:latin typeface="Microsoft YaHei"/>
                        </a:rPr>
                        <a:t>性能基准 benchmark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D4DDF0"/>
                          </a:solidFill>
                          <a:latin typeface="Microsoft YaHei"/>
                        </a:rPr>
                        <a:t>perf/benchmarks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57200" y="55321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Microsoft YaHei"/>
              </a:rPr>
              <a:t>🐛  测试驱动发现并修复 7 个真实缺陷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4DDF0"/>
                </a:solidFill>
                <a:latin typeface="Microsoft YaHei"/>
              </a:rPr>
              <a:t>其中 1 个由属性测试自动发现（人想不到的越界 bug）  ·  覆盖率 87.5% · 核心策略模块 ≥ 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11 /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亮点 ⑤ · 收益归因守恒等式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把「理论 - 实际」差额完整分解到 4 个可解释来源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Microsoft YaHei"/>
              </a:rPr>
              <a:t>理论收益  =  实际收益  +  Gas  +  Slippage  +  LVR  +  调仓空窗折损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269748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  <a:latin typeface="Microsoft YaHei"/>
              </a:rPr>
              <a:t>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D4DDF0"/>
                </a:solidFill>
                <a:latin typeface="Consolas"/>
              </a:rPr>
              <a:t>(base + priority) × gas_limit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2918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3291840"/>
            <a:ext cx="269748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Microsoft YaHei"/>
              </a:rPr>
              <a:t>Slippage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D4DDF0"/>
                </a:solidFill>
                <a:latin typeface="Consolas"/>
              </a:rPr>
              <a:t>阶梯函数 0.1 / 0.3 / 0.8 %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918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291840"/>
            <a:ext cx="26974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Microsoft YaHei"/>
              </a:rPr>
              <a:t>LVR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D4DDF0"/>
                </a:solidFill>
                <a:latin typeface="Consolas"/>
              </a:rPr>
              <a:t>|oracle - pool| / oracle × size × 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2918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3291840"/>
            <a:ext cx="2697480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472B6"/>
                </a:solidFill>
                <a:latin typeface="Microsoft YaHei"/>
              </a:rPr>
              <a:t>调仓空窗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977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D4DDF0"/>
                </a:solidFill>
                <a:latin typeface="Consolas"/>
              </a:rPr>
              <a:t>理论 - 实际 - 摩擦 = 机会成本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集成测试验证 ·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4DDF0"/>
                </a:solidFill>
                <a:latin typeface="Consolas"/>
              </a:rPr>
              <a:t>reconstructed = actual + gas + slippage + lvr + idle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4DDF0"/>
                </a:solidFill>
                <a:latin typeface="Consolas"/>
              </a:rPr>
              <a:t>assert abs(reconstructed - theoretical) &lt;= Decimal(1)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  <a:latin typeface="Microsoft YaHei"/>
              </a:rPr>
              <a:t>→  误差 &lt; 1 元 / 100 k 本金  ·  即 0.001% 守恒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12 /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演示 · 5 策略对比实测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同一份数据 · 5 种结果 · 价格风险敏感策略胜出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compare_nav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实测结果 ·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79" y="2103120"/>
          <a:ext cx="438911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/>
                <a:gridCol w="1012873"/>
                <a:gridCol w="844061"/>
                <a:gridCol w="844061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年化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MDD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8BDF8"/>
                          </a:solidFill>
                          <a:latin typeface="Microsoft YaHei"/>
                        </a:rPr>
                        <a:t>Sharpe</a:t>
                      </a:r>
                    </a:p>
                  </a:txBody>
                  <a:tcPr marL="91440" marR="91440" marT="73152" marB="73152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保守稳健 ✓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+8.82%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5.80%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1.076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极端风险厌恶 ✓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+8.36%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5.80%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1.020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均衡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-3.65%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20.69%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-0.230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激进动量 ✗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-6.50%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20.44%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-0.367</a:t>
                      </a:r>
                    </a:p>
                  </a:txBody>
                  <a:tcPr marL="109728" marR="109728" marT="54864" marB="54864">
                    <a:solidFill>
                      <a:srgbClr val="141F3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8BDF8"/>
                          </a:solidFill>
                          <a:latin typeface="Microsoft YaHei"/>
                        </a:rPr>
                        <a:t>低频价值 ✗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-11.71%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21.57%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4DDF0"/>
                          </a:solidFill>
                          <a:latin typeface="Microsoft YaHei"/>
                        </a:rPr>
                        <a:t>-0.781</a:t>
                      </a:r>
                    </a:p>
                  </a:txBody>
                  <a:tcPr marL="109728" marR="109728" marT="54864" marB="54864">
                    <a:solidFill>
                      <a:srgbClr val="0F172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53212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762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  <a:latin typeface="Microsoft YaHei"/>
              </a:rPr>
              <a:t>✓  价格风险敏感策略避开 token 暴跌 · ✗  激进策略锁定高 APY 池被 MTM 反噬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📊  这正是「场景设计 · 对比分析 · 结论洞察」—— 不仅能跑，还能回答问题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13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演示 · 真实链上数据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Maple USDC / Vesper ETH / Lido stETH × 300 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posi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315200" cy="2194560"/>
          </a:xfrm>
          <a:prstGeom prst="rect">
            <a:avLst/>
          </a:prstGeom>
        </p:spPr>
      </p:pic>
      <p:pic>
        <p:nvPicPr>
          <p:cNvPr id="9" name="Picture 8" descr="07_risk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731520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onsolas"/>
              </a:rPr>
              <a:t>保守稳健 ·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0312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年化收益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23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onsolas"/>
              </a:rPr>
              <a:t>+8.74 %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953512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044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最大回撤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735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onsolas"/>
              </a:rPr>
              <a:t>2.15 %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803904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8953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Sharpe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12394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onsolas"/>
              </a:rPr>
              <a:t>1.540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654296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D4D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7457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调仓次数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97433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4DDF0"/>
                </a:solidFill>
                <a:latin typeface="Consolas"/>
              </a:rPr>
              <a:t>2 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5504688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596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6A8"/>
                </a:solidFill>
                <a:latin typeface="Microsoft YaHei"/>
              </a:rPr>
              <a:t>USDC 占比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8247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  <a:latin typeface="Consolas"/>
              </a:rPr>
              <a:t>99 %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14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成员分工 · 4 人 × 25 %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按模块边界划分 · 接口先行 · 并行开发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Microsoft YaHei"/>
              </a:rPr>
              <a:t>成员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数据 + 链上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data_model + onchain_fetcher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365760" cy="182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2423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CSV / Parquet 加载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DefiLlama API 接入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frozen dataclass 设计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需求文档与 README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  <a:latin typeface="Consolas"/>
              </a:rPr>
              <a:t>25 %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69164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472B6"/>
                </a:solidFill>
                <a:latin typeface="Microsoft YaHei"/>
              </a:rPr>
              <a:t>成员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策略引擎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43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strategy/ Scorer + 引擎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108960"/>
            <a:ext cx="365760" cy="182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46120"/>
            <a:ext cx="2423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6 个 Scorer 实现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RotationEngine 状态机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ReinvestEngine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5 个策略预设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120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472B6"/>
                </a:solidFill>
                <a:latin typeface="Consolas"/>
              </a:rPr>
              <a:t>25 %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9164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DE80"/>
                </a:solidFill>
                <a:latin typeface="Microsoft YaHei"/>
              </a:rPr>
              <a:t>成员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77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回测 + 报表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backtest/ + report/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08960"/>
            <a:ext cx="365760" cy="182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2423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FrictionEstimator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EventInjector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Mark-to-Market 引擎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归因守恒分解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2120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  <a:latin typeface="Consolas"/>
              </a:rPr>
              <a:t>25 %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69164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Microsoft YaHei"/>
              </a:rPr>
              <a:t>成员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377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前端 + 测试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743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ui/ + tests/ + CI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3108960"/>
            <a:ext cx="365760" cy="182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3246120"/>
            <a:ext cx="2423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Streamlit 6 Tab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Plotly 10 图表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325 测试体系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GitHub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2120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onsolas"/>
              </a:rPr>
              <a:t>25 %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7A86A8"/>
                </a:solidFill>
                <a:latin typeface="Microsoft YaHei"/>
              </a:rPr>
              <a:t>协作机制：Git PR 互审  ·  IScorer / IFrictionEstimator 抽象接口先行  ·  每周集成测试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15 /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成果与预期对比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✓ 多项超出预期 · ⚠ 部分难度超预期 · ↓ 少量降级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49039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  <a:latin typeface="Consolas"/>
              </a:rPr>
              <a:t>EXCEEDED · 超出预期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429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真实链上数据接入
（原计划仅合成）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5 个命名策略预设
（原计划仅自定义）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TokenPrice 风险评分器
（课程未要求）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完整测试体系
（远超基本单测）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4ADE80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属性测试 + CI
（自动找到真实 bug）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749039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onsolas"/>
              </a:rPr>
              <a:t>HARD · 难度超预期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429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MTM 重构
→ 修复 Sharpe 异常迭代 2 轮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决策表 / 条件组合
→ 需先做控制流图分析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DefiLlama 时间戳归一化
→ 跨池秒级偏移踩坑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Streamlit 缓存失效
→ 按 mtime 自动失效才解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BBF24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雷达图视觉缩放
→ 拆 subplot 才让对比可读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3749039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onsolas"/>
              </a:rPr>
              <a:t>DEFERRED · 降级 / 未做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429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LP 池仅单代币建模
（双代币 LP 留作未来）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UI 仅中文
（多语言切换未做）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强化学习驱动策略
（留作未来扩展）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F472B6"/>
                </a:solidFill>
                <a:latin typeface="Consolas"/>
              </a:rPr>
              <a:t>▸  </a:t>
            </a:r>
            <a:r>
              <a:rPr sz="1100">
                <a:solidFill>
                  <a:srgbClr val="D4DDF0"/>
                </a:solidFill>
                <a:latin typeface="Microsoft YaHei"/>
              </a:rPr>
              <a:t>10000 tick 性能
（线性外推 30 s · 接近预算）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16 /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73152" cy="457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结论洞察 · 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6A8"/>
                </a:solidFill>
                <a:latin typeface="Microsoft YaHei"/>
              </a:rPr>
              <a:t>不仅能跑，还能回答问题 · 真实数据驱动的 3 个发现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2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3794760" cy="4754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379476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onsola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滑点如何随池深变化？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88920"/>
            <a:ext cx="365760" cy="228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实证 · 真实链上数据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3429000" cy="548640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4DDF0"/>
                </a:solidFill>
                <a:latin typeface="Microsoft YaHei"/>
              </a:rPr>
              <a:t>Maple USDC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2461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$3.27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461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4ADE80"/>
                </a:solidFill>
                <a:latin typeface="Consolas"/>
              </a:rPr>
              <a:t>0.1%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86200"/>
            <a:ext cx="3429000" cy="548640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D4DDF0"/>
                </a:solidFill>
                <a:latin typeface="Microsoft YaHei"/>
              </a:rPr>
              <a:t>Vesper ETH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886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$5.2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862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Consolas"/>
              </a:rPr>
              <a:t>0.3%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89204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41F37"/>
          </a:solidFill>
          <a:ln w="762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onsolas"/>
              </a:rPr>
              <a:t>→ 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trade / TVL 决定滑点档位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大 TVL 池可节省 ≥ 67% 滑点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→ 阶梯函数（FrictionEstimator）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   合理建模这一现象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691640"/>
            <a:ext cx="3794760" cy="4754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1691640"/>
            <a:ext cx="379476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onsolas"/>
              </a:rPr>
              <a:t>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24028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评分器是否考虑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token_price 风险？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063240"/>
            <a:ext cx="365760" cy="228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2004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实证 · 同数据 5 策略对比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520440"/>
            <a:ext cx="3429000" cy="594360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Microsoft YaHei"/>
              </a:rPr>
              <a:t>不考虑价格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49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Microsoft YaHei"/>
              </a:rPr>
              <a:t>激进动量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566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472B6"/>
                </a:solidFill>
                <a:latin typeface="Consolas"/>
              </a:rPr>
              <a:t>-6.50%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8862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A86A8"/>
                </a:solidFill>
                <a:latin typeface="Microsoft YaHei"/>
              </a:rPr>
              <a:t>年化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472B6"/>
                </a:solidFill>
                <a:latin typeface="Consolas"/>
              </a:rPr>
              <a:t>20.44%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8862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A86A8"/>
                </a:solidFill>
                <a:latin typeface="Microsoft YaHei"/>
              </a:rPr>
              <a:t>MDD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178808"/>
            <a:ext cx="3429000" cy="594360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1788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Microsoft YaHei"/>
              </a:rPr>
              <a:t>考虑价格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4074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Microsoft YaHei"/>
              </a:rPr>
              <a:t>保守稳健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224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onsolas"/>
              </a:rPr>
              <a:t>+8.82%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54456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A86A8"/>
                </a:solidFill>
                <a:latin typeface="Microsoft YaHei"/>
              </a:rPr>
              <a:t>年化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224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  <a:latin typeface="Consolas"/>
              </a:rPr>
              <a:t>5.80%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5445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A86A8"/>
                </a:solidFill>
                <a:latin typeface="Microsoft YaHei"/>
              </a:rPr>
              <a:t>MDD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60" y="493776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141F37"/>
          </a:solidFill>
          <a:ln w="762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502920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onsolas"/>
              </a:rPr>
              <a:t>→ 结论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3492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光看 APY 是不够的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必须把 token 价格风险纳入评分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→ TokenPriceVol/MDDPenalty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   解决「-6.5% 亏损」问题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1691640"/>
            <a:ext cx="3794760" cy="475488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80" y="1691640"/>
            <a:ext cx="379476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onsolas"/>
              </a:rPr>
              <a:t>Q3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24028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调仓越频繁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收益越高吗？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063240"/>
            <a:ext cx="365760" cy="228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32004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6A8"/>
                </a:solidFill>
                <a:latin typeface="Consolas"/>
              </a:rPr>
              <a:t>实证 · 5 预设统计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3520440"/>
            <a:ext cx="3429000" cy="384048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35204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激进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35204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1 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1360" y="352044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onsolas"/>
              </a:rPr>
              <a:t>-6.5%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3977640"/>
            <a:ext cx="3429000" cy="384048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39776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低频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20" y="39776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16 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397764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onsolas"/>
              </a:rPr>
              <a:t>-11.7%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4434840"/>
            <a:ext cx="3429000" cy="384048"/>
          </a:xfrm>
          <a:prstGeom prst="rect">
            <a:avLst/>
          </a:prstGeom>
          <a:solidFill>
            <a:srgbClr val="141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44348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4DDF0"/>
                </a:solidFill>
                <a:latin typeface="Microsoft YaHei"/>
              </a:rPr>
              <a:t>保守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443484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19 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443484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  <a:latin typeface="Consolas"/>
              </a:rPr>
              <a:t>+8.8%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60" y="4937760"/>
            <a:ext cx="3429000" cy="1325880"/>
          </a:xfrm>
          <a:prstGeom prst="roundRect">
            <a:avLst>
              <a:gd name="adj" fmla="val 8000"/>
            </a:avLst>
          </a:prstGeom>
          <a:solidFill>
            <a:srgbClr val="141F37"/>
          </a:solidFill>
          <a:ln w="762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3920" y="502920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  <a:latin typeface="Consolas"/>
              </a:rPr>
              <a:t>→ 结论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53492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调仓数量不是关键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调仓时机才是关键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→ τ-reset + 双门槛 + 价格漂移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D4DDF0"/>
                </a:solidFill>
                <a:latin typeface="Microsoft YaHei"/>
              </a:rPr>
              <a:t>   联合决定何时该出手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6492240"/>
            <a:ext cx="11247120" cy="32004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6350">
            <a:solidFill>
              <a:srgbClr val="2D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A86A8"/>
                </a:solidFill>
                <a:latin typeface="Microsoft YaHei"/>
              </a:rPr>
              <a:t>回答问题型回测平台  ·  数据驱动结论  ·  非「跑通即止」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6A8"/>
                </a:solidFill>
                <a:latin typeface="Consolas"/>
              </a:rPr>
              <a:t>17 / 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A86A8"/>
                </a:solidFill>
                <a:latin typeface="Consolas"/>
              </a:rPr>
              <a:t>DEFI · BACKTEST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Microsoft YaHei"/>
              </a:rPr>
              <a:t>完整可运行 · 可复现 · 可扩展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  <a:latin typeface="Consolas"/>
              </a:rPr>
              <a:t>RUNNABLE  ·  REPRODUCIBLE  ·  EXTENSIBLE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697480"/>
            <a:ext cx="1188720" cy="3657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13.5k+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代码行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7420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7420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325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7420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0188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0188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87.5%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188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覆盖率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2956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2956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956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Tab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5724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5724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5724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图表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8492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8492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8492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预设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81260" y="32004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016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1260" y="33375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onsolas"/>
              </a:rPr>
              <a:t>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1260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A86A8"/>
                </a:solidFill>
                <a:latin typeface="Microsoft YaHei"/>
              </a:rPr>
              <a:t>链上数据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472B6"/>
                </a:solidFill>
                <a:latin typeface="Microsoft YaHei"/>
              </a:rPr>
              <a:t>Q  &amp; 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7A86A8"/>
                </a:solidFill>
                <a:latin typeface="Consolas"/>
              </a:rPr>
              <a:t>$ pytest tests/  ·  python run_example.py  ·  streamlit run ui/app.py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4DDF0"/>
                </a:solidFill>
                <a:latin typeface="Microsoft YaHei"/>
              </a:rPr>
              <a:t>谢 谢 聆 听   ·   欢 迎 提 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